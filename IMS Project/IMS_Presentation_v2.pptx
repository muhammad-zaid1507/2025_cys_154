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651760"/>
          </a:xfrm>
          <a:prstGeom prst="rect">
            <a:avLst/>
          </a:prstGeom>
          <a:solidFill>
            <a:srgbClr val="16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1430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Segoe UI"/>
              </a:rPr>
              <a:t>Inventory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5331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 i="0">
                <a:solidFill>
                  <a:srgbClr val="8184FF"/>
                </a:solidFill>
                <a:latin typeface="Segoe UI"/>
              </a:rPr>
              <a:t>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487168"/>
            <a:ext cx="4114800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0B3D6"/>
                </a:solidFill>
                <a:latin typeface="Segoe UI"/>
              </a:rPr>
              <a:t>Java SE 17  •  MySQL 8.0  •  Java Swing  •  MVC + DAO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127248"/>
            <a:ext cx="1783080" cy="36576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145536"/>
            <a:ext cx="1783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OOP Project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23160" y="3127248"/>
            <a:ext cx="1783080" cy="365760"/>
          </a:xfrm>
          <a:prstGeom prst="rect">
            <a:avLst/>
          </a:prstGeom>
          <a:solidFill>
            <a:srgbClr val="3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23160" y="3145536"/>
            <a:ext cx="1783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CMPE-252L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3127248"/>
            <a:ext cx="1783080" cy="365760"/>
          </a:xfrm>
          <a:prstGeom prst="rect">
            <a:avLst/>
          </a:prstGeom>
          <a:solidFill>
            <a:srgbClr val="3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3145536"/>
            <a:ext cx="1783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Spring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5623560"/>
            <a:ext cx="12188952" cy="1234440"/>
          </a:xfrm>
          <a:prstGeom prst="rect">
            <a:avLst/>
          </a:prstGeom>
          <a:solidFill>
            <a:srgbClr val="16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57150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Muhammad Zaid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080760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B3D6"/>
                </a:solidFill>
                <a:latin typeface="Segoe UI"/>
              </a:rPr>
              <a:t>University of Engineering and Technology  |  CMPE-252L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08076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B0B3D6"/>
                </a:solidFill>
                <a:latin typeface="Segoe UI"/>
              </a:rPr>
              <a:t>June 2026</a:t>
            </a:r>
          </a:p>
        </p:txBody>
      </p:sp>
    </p:spTree>
    <p:transition spd="med" dur="600">
      <p:fade/>
    </p:transition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6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91440"/>
            <a:ext cx="9326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Segoe UI"/>
              </a:rPr>
              <a:t>Problem Statement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10241280" y="182880"/>
            <a:ext cx="1600200" cy="38404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0" y="201168"/>
            <a:ext cx="1600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Slide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11365992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234440"/>
            <a:ext cx="5669280" cy="1261872"/>
          </a:xfrm>
          <a:prstGeom prst="rect">
            <a:avLst/>
          </a:prstGeom>
          <a:solidFill>
            <a:srgbClr val="1E2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234440"/>
            <a:ext cx="182880" cy="126187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07592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Segoe UI"/>
              </a:rPr>
              <a:t>Manual Stock Tracking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691640"/>
            <a:ext cx="51206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B3D6"/>
                </a:solidFill>
                <a:latin typeface="Segoe UI"/>
              </a:rPr>
              <a:t>Error-prone spreadsheets, no real-time visibility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1234440"/>
            <a:ext cx="5669280" cy="1261872"/>
          </a:xfrm>
          <a:prstGeom prst="rect">
            <a:avLst/>
          </a:prstGeom>
          <a:solidFill>
            <a:srgbClr val="1E2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182880" cy="126187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7688" y="1307592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Segoe UI"/>
              </a:rPr>
              <a:t>No Audit Trail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7688" y="1691640"/>
            <a:ext cx="51206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B3D6"/>
                </a:solidFill>
                <a:latin typeface="Segoe UI"/>
              </a:rPr>
              <a:t>Zero record of who performed what and when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24328"/>
            <a:ext cx="5669280" cy="1261872"/>
          </a:xfrm>
          <a:prstGeom prst="rect">
            <a:avLst/>
          </a:prstGeom>
          <a:solidFill>
            <a:srgbClr val="1E2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24328"/>
            <a:ext cx="182880" cy="126187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697480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Segoe UI"/>
              </a:rPr>
              <a:t>Data Inconsistency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081528"/>
            <a:ext cx="51206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B3D6"/>
                </a:solidFill>
                <a:latin typeface="Segoe UI"/>
              </a:rPr>
              <a:t>Sales &amp; purchases tracked separately — no sync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80" y="2624328"/>
            <a:ext cx="5669280" cy="1261872"/>
          </a:xfrm>
          <a:prstGeom prst="rect">
            <a:avLst/>
          </a:prstGeom>
          <a:solidFill>
            <a:srgbClr val="1E2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55080" y="2624328"/>
            <a:ext cx="182880" cy="126187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2697480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Segoe UI"/>
              </a:rPr>
              <a:t>No Security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7688" y="3081528"/>
            <a:ext cx="51206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B3D6"/>
                </a:solidFill>
                <a:latin typeface="Segoe UI"/>
              </a:rPr>
              <a:t>No authentication, no hashing, no access control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55848" y="4023360"/>
            <a:ext cx="5669280" cy="1261872"/>
          </a:xfrm>
          <a:prstGeom prst="rect">
            <a:avLst/>
          </a:prstGeom>
          <a:solidFill>
            <a:srgbClr val="1E2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355848" y="4023360"/>
            <a:ext cx="182880" cy="126187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48456" y="4096512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Segoe UI"/>
              </a:rPr>
              <a:t>No Reporting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48456" y="4480560"/>
            <a:ext cx="51206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B3D6"/>
                </a:solidFill>
                <a:latin typeface="Segoe UI"/>
              </a:rPr>
              <a:t>Manual compilation — slow, inaccurate, wasteful</a:t>
            </a:r>
          </a:p>
        </p:txBody>
      </p:sp>
    </p:spTree>
    <p:transition spd="med" dur="500">
      <p:push/>
    </p:transition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6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91440"/>
            <a:ext cx="9326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Segoe UI"/>
              </a:rPr>
              <a:t>Project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241280" y="182880"/>
            <a:ext cx="1600200" cy="38404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0" y="201168"/>
            <a:ext cx="1600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Slide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11365992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234440"/>
            <a:ext cx="5669280" cy="1261872"/>
          </a:xfrm>
          <a:prstGeom prst="rect">
            <a:avLst/>
          </a:prstGeom>
          <a:solidFill>
            <a:srgbClr val="1E2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234440"/>
            <a:ext cx="658368" cy="126187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581912"/>
            <a:ext cx="65836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1490472"/>
            <a:ext cx="468172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Segoe UI"/>
              </a:rPr>
              <a:t>Demonstrate all 4 OOP pillars in a real-world application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1234440"/>
            <a:ext cx="5669280" cy="1261872"/>
          </a:xfrm>
          <a:prstGeom prst="rect">
            <a:avLst/>
          </a:prstGeom>
          <a:solidFill>
            <a:srgbClr val="1E2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658368" cy="126187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581912"/>
            <a:ext cx="65836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59752" y="1490472"/>
            <a:ext cx="468172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Segoe UI"/>
              </a:rPr>
              <a:t>Persistent MySQL storage with JDBC PreparedStatements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24328"/>
            <a:ext cx="5669280" cy="1261872"/>
          </a:xfrm>
          <a:prstGeom prst="rect">
            <a:avLst/>
          </a:prstGeom>
          <a:solidFill>
            <a:srgbClr val="1E2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24328"/>
            <a:ext cx="658368" cy="12618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971800"/>
            <a:ext cx="65836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2880360"/>
            <a:ext cx="468172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Segoe UI"/>
              </a:rPr>
              <a:t>File Handling — timestamped audit log + inventory report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80" y="2624328"/>
            <a:ext cx="5669280" cy="1261872"/>
          </a:xfrm>
          <a:prstGeom prst="rect">
            <a:avLst/>
          </a:prstGeom>
          <a:solidFill>
            <a:srgbClr val="1E2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55080" y="2624328"/>
            <a:ext cx="658368" cy="126187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2971800"/>
            <a:ext cx="65836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59752" y="2880360"/>
            <a:ext cx="468172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Segoe UI"/>
              </a:rPr>
              <a:t>Security: SHA-256 hashing, RBAC, SQL injection prevention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014216"/>
            <a:ext cx="5669280" cy="1261872"/>
          </a:xfrm>
          <a:prstGeom prst="rect">
            <a:avLst/>
          </a:prstGeom>
          <a:solidFill>
            <a:srgbClr val="1E2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4014216"/>
            <a:ext cx="658368" cy="1261872"/>
          </a:xfrm>
          <a:prstGeom prst="rect">
            <a:avLst/>
          </a:prstGeom>
          <a:solidFill>
            <a:srgbClr val="81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4361688"/>
            <a:ext cx="65836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" y="4270248"/>
            <a:ext cx="468172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Segoe UI"/>
              </a:rPr>
              <a:t>Live dashboard with KPI cards and Java2D sales bar chart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55080" y="4014216"/>
            <a:ext cx="5669280" cy="1261872"/>
          </a:xfrm>
          <a:prstGeom prst="rect">
            <a:avLst/>
          </a:prstGeom>
          <a:solidFill>
            <a:srgbClr val="1E2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4014216"/>
            <a:ext cx="658368" cy="126187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4361688"/>
            <a:ext cx="65836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Segoe UI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59752" y="4270248"/>
            <a:ext cx="468172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Segoe UI"/>
              </a:rPr>
              <a:t>CSV export and printable inventory report generation</a:t>
            </a:r>
          </a:p>
        </p:txBody>
      </p:sp>
    </p:spTree>
    <p:transition spd="med" dur="500">
      <p:push/>
    </p:transition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6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91440"/>
            <a:ext cx="9326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Segoe UI"/>
              </a:rPr>
              <a:t>System Architecture — MVC + DAO</a:t>
            </a:r>
          </a:p>
        </p:txBody>
      </p:sp>
      <p:sp>
        <p:nvSpPr>
          <p:cNvPr id="4" name="Rectangle 3"/>
          <p:cNvSpPr/>
          <p:nvPr/>
        </p:nvSpPr>
        <p:spPr>
          <a:xfrm>
            <a:off x="10241280" y="182880"/>
            <a:ext cx="1600200" cy="38404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0" y="201168"/>
            <a:ext cx="1600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Slide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11365992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ch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78992"/>
            <a:ext cx="11384280" cy="5577840"/>
          </a:xfrm>
          <a:prstGeom prst="rect">
            <a:avLst/>
          </a:prstGeom>
        </p:spPr>
      </p:pic>
    </p:spTree>
    <p:transition spd="med" dur="600">
      <p:fade/>
    </p:transition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6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91440"/>
            <a:ext cx="9326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Segoe UI"/>
              </a:rPr>
              <a:t>OOP Pillars — Applied in This Project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10241280" y="182880"/>
            <a:ext cx="1600200" cy="38404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0" y="201168"/>
            <a:ext cx="1600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Slide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11365992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2743200" cy="5486400"/>
          </a:xfrm>
          <a:prstGeom prst="rect">
            <a:avLst/>
          </a:prstGeom>
          <a:solidFill>
            <a:srgbClr val="1E2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188720"/>
            <a:ext cx="2743200" cy="4572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225296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ENCAPSULATION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79" y="1737360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366F1"/>
                </a:solidFill>
                <a:latin typeface="Segoe UI"/>
              </a:rPr>
              <a:t>WHERE: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1993392"/>
            <a:ext cx="24688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3D6"/>
                </a:solidFill>
                <a:latin typeface="Segoe UI"/>
              </a:rPr>
              <a:t>Product, Sale, Purchase
Supplier, Category, User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79" y="3090672"/>
            <a:ext cx="2468880" cy="27432"/>
          </a:xfrm>
          <a:prstGeom prst="rect">
            <a:avLst/>
          </a:prstGeom>
          <a:solidFill>
            <a:srgbClr val="3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79" y="3182112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366F1"/>
                </a:solidFill>
                <a:latin typeface="Segoe UI"/>
              </a:rPr>
              <a:t>HOW: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" y="3429000"/>
            <a:ext cx="246888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private fields
public getters/setters
no direct field access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1188720"/>
            <a:ext cx="2743200" cy="5486400"/>
          </a:xfrm>
          <a:prstGeom prst="rect">
            <a:avLst/>
          </a:prstGeom>
          <a:solidFill>
            <a:srgbClr val="1E2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0400" y="1188720"/>
            <a:ext cx="2743200" cy="457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0" y="1225296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ABSTRACTION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37360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Segoe UI"/>
              </a:rPr>
              <a:t>WHERE: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37560" y="1993392"/>
            <a:ext cx="24688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3D6"/>
                </a:solidFill>
                <a:latin typeface="Segoe UI"/>
              </a:rPr>
              <a:t>DAO Layer
DatabaseConnection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37560" y="3090672"/>
            <a:ext cx="2468880" cy="27432"/>
          </a:xfrm>
          <a:prstGeom prst="rect">
            <a:avLst/>
          </a:prstGeom>
          <a:solidFill>
            <a:srgbClr val="3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37560" y="3182112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Segoe UI"/>
              </a:rPr>
              <a:t>HOW: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37560" y="3429000"/>
            <a:ext cx="246888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GUI never sees SQL
Calls getAllProducts()
Returns Java objects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26480" y="1188720"/>
            <a:ext cx="2743200" cy="5486400"/>
          </a:xfrm>
          <a:prstGeom prst="rect">
            <a:avLst/>
          </a:prstGeom>
          <a:solidFill>
            <a:srgbClr val="1E2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26480" y="1188720"/>
            <a:ext cx="274320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0" y="1225296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INHERITANCE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1737360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  <a:latin typeface="Segoe UI"/>
              </a:rPr>
              <a:t>WHERE: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1993392"/>
            <a:ext cx="24688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3D6"/>
                </a:solidFill>
                <a:latin typeface="Segoe UI"/>
              </a:rPr>
              <a:t>DashboardFrame
  extends JFrame
SalesChartPanel
  extends JPanel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63640" y="3090672"/>
            <a:ext cx="2468880" cy="27432"/>
          </a:xfrm>
          <a:prstGeom prst="rect">
            <a:avLst/>
          </a:prstGeom>
          <a:solidFill>
            <a:srgbClr val="3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63640" y="3182112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  <a:latin typeface="Segoe UI"/>
              </a:rPr>
              <a:t>HOW: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40" y="3429000"/>
            <a:ext cx="246888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Inherits full Swing
behaviour + custom
logic on top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52560" y="1188720"/>
            <a:ext cx="2743200" cy="5486400"/>
          </a:xfrm>
          <a:prstGeom prst="rect">
            <a:avLst/>
          </a:prstGeom>
          <a:solidFill>
            <a:srgbClr val="1E2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052560" y="1188720"/>
            <a:ext cx="2743200" cy="4572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52560" y="1225296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POLYMORPHISM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89720" y="1737360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Segoe UI"/>
              </a:rPr>
              <a:t>WHERE: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89720" y="1993392"/>
            <a:ext cx="24688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3D6"/>
                </a:solidFill>
                <a:latin typeface="Segoe UI"/>
              </a:rPr>
              <a:t>SwingWorker
ActionListeners
Method overloading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89720" y="3090672"/>
            <a:ext cx="2468880" cy="27432"/>
          </a:xfrm>
          <a:prstGeom prst="rect">
            <a:avLst/>
          </a:prstGeom>
          <a:solidFill>
            <a:srgbClr val="3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89720" y="3182112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Segoe UI"/>
              </a:rPr>
              <a:t>HOW: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89720" y="3429000"/>
            <a:ext cx="246888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Runtime: paintComponent
doInBackground() override
Compile: showMsg()</a:t>
            </a:r>
          </a:p>
        </p:txBody>
      </p:sp>
    </p:spTree>
    <p:transition spd="med" dur="500">
      <p:push/>
    </p:transition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6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91440"/>
            <a:ext cx="9326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Segoe UI"/>
              </a:rPr>
              <a:t>Database Design &amp; File Handling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10241280" y="182880"/>
            <a:ext cx="1600200" cy="38404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0" y="201168"/>
            <a:ext cx="1600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Slide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11365992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078992"/>
            <a:ext cx="5577840" cy="5577840"/>
          </a:xfrm>
          <a:prstGeom prst="rect">
            <a:avLst/>
          </a:prstGeom>
          <a:solidFill>
            <a:srgbClr val="1E2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078992"/>
            <a:ext cx="5577840" cy="43891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111556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MySQL 8.0 Database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64208"/>
            <a:ext cx="1371600" cy="548640"/>
          </a:xfrm>
          <a:prstGeom prst="rect">
            <a:avLst/>
          </a:prstGeom>
          <a:solidFill>
            <a:srgbClr val="3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70992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8184FF"/>
                </a:solidFill>
                <a:latin typeface="Segoe UI"/>
              </a:rPr>
              <a:t>users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38528" y="1709928"/>
            <a:ext cx="3794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3D6"/>
                </a:solidFill>
                <a:latin typeface="Segoe UI"/>
              </a:rPr>
              <a:t>Login credentials + role (ADMIN/USER)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414016"/>
            <a:ext cx="1371600" cy="548640"/>
          </a:xfrm>
          <a:prstGeom prst="rect">
            <a:avLst/>
          </a:prstGeom>
          <a:solidFill>
            <a:srgbClr val="3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459736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8184FF"/>
                </a:solidFill>
                <a:latin typeface="Segoe UI"/>
              </a:rPr>
              <a:t>products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38528" y="2459736"/>
            <a:ext cx="3794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3D6"/>
                </a:solidFill>
                <a:latin typeface="Segoe UI"/>
              </a:rPr>
              <a:t>Catalogue — price, qty, category, supplier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163824"/>
            <a:ext cx="1371600" cy="548640"/>
          </a:xfrm>
          <a:prstGeom prst="rect">
            <a:avLst/>
          </a:prstGeom>
          <a:solidFill>
            <a:srgbClr val="3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209544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8184FF"/>
                </a:solidFill>
                <a:latin typeface="Segoe UI"/>
              </a:rPr>
              <a:t>categories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38528" y="3209544"/>
            <a:ext cx="3794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3D6"/>
                </a:solidFill>
                <a:latin typeface="Segoe UI"/>
              </a:rPr>
              <a:t>Product category names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913632"/>
            <a:ext cx="1371600" cy="548640"/>
          </a:xfrm>
          <a:prstGeom prst="rect">
            <a:avLst/>
          </a:prstGeom>
          <a:solidFill>
            <a:srgbClr val="3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959352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8184FF"/>
                </a:solidFill>
                <a:latin typeface="Segoe UI"/>
              </a:rPr>
              <a:t>suppliers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38528" y="3959352"/>
            <a:ext cx="3794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3D6"/>
                </a:solidFill>
                <a:latin typeface="Segoe UI"/>
              </a:rPr>
              <a:t>Supplier name + contact details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663440"/>
            <a:ext cx="1371600" cy="548640"/>
          </a:xfrm>
          <a:prstGeom prst="rect">
            <a:avLst/>
          </a:prstGeom>
          <a:solidFill>
            <a:srgbClr val="3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70915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8184FF"/>
                </a:solidFill>
                <a:latin typeface="Segoe UI"/>
              </a:rPr>
              <a:t>sales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38528" y="4709159"/>
            <a:ext cx="3794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3D6"/>
                </a:solidFill>
                <a:latin typeface="Segoe UI"/>
              </a:rPr>
              <a:t>Outgoing transactions + soldBy user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413248"/>
            <a:ext cx="1371600" cy="548640"/>
          </a:xfrm>
          <a:prstGeom prst="rect">
            <a:avLst/>
          </a:prstGeom>
          <a:solidFill>
            <a:srgbClr val="3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545896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8184FF"/>
                </a:solidFill>
                <a:latin typeface="Segoe UI"/>
              </a:rPr>
              <a:t>purchases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38528" y="5458968"/>
            <a:ext cx="3794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3D6"/>
                </a:solidFill>
                <a:latin typeface="Segoe UI"/>
              </a:rPr>
              <a:t>Incoming stock + addedBy user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91072" y="1078992"/>
            <a:ext cx="5577840" cy="5577840"/>
          </a:xfrm>
          <a:prstGeom prst="rect">
            <a:avLst/>
          </a:prstGeom>
          <a:solidFill>
            <a:srgbClr val="1E2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91072" y="1078992"/>
            <a:ext cx="5577840" cy="43891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111556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FileHandler.java — File Handling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46520" y="1627632"/>
            <a:ext cx="5212080" cy="1371600"/>
          </a:xfrm>
          <a:prstGeom prst="rect">
            <a:avLst/>
          </a:prstGeom>
          <a:solidFill>
            <a:srgbClr val="16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46520" y="1627632"/>
            <a:ext cx="5212080" cy="347472"/>
          </a:xfrm>
          <a:prstGeom prst="rect">
            <a:avLst/>
          </a:prstGeom>
          <a:solidFill>
            <a:srgbClr val="124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65392" y="1664208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  <a:latin typeface="Segoe UI"/>
              </a:rPr>
              <a:t>system_logs.txt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491472" y="1664208"/>
            <a:ext cx="1115568" cy="274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91472" y="1682496"/>
            <a:ext cx="11155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APPEND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65392" y="2048256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3D6"/>
                </a:solidFill>
                <a:latin typeface="Segoe UI"/>
              </a:rPr>
              <a:t>Timestamped audit log of every
user action in the system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46520" y="3136391"/>
            <a:ext cx="5212080" cy="1371600"/>
          </a:xfrm>
          <a:prstGeom prst="rect">
            <a:avLst/>
          </a:prstGeom>
          <a:solidFill>
            <a:srgbClr val="16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446520" y="3136391"/>
            <a:ext cx="5212080" cy="347472"/>
          </a:xfrm>
          <a:prstGeom prst="rect">
            <a:avLst/>
          </a:prstGeom>
          <a:solidFill>
            <a:srgbClr val="124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65392" y="3172968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  <a:latin typeface="Segoe UI"/>
              </a:rPr>
              <a:t>inventory_report.txt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491472" y="3172968"/>
            <a:ext cx="1115568" cy="274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91472" y="3191256"/>
            <a:ext cx="11155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WRITE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65392" y="3557015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3D6"/>
                </a:solidFill>
                <a:latin typeface="Segoe UI"/>
              </a:rPr>
              <a:t>Formatted product snapshot
exported on demand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46520" y="4645152"/>
            <a:ext cx="5212080" cy="1371600"/>
          </a:xfrm>
          <a:prstGeom prst="rect">
            <a:avLst/>
          </a:prstGeom>
          <a:solidFill>
            <a:srgbClr val="16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46520" y="4645152"/>
            <a:ext cx="5212080" cy="347472"/>
          </a:xfrm>
          <a:prstGeom prst="rect">
            <a:avLst/>
          </a:prstGeom>
          <a:solidFill>
            <a:srgbClr val="124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65392" y="4681728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  <a:latin typeface="Segoe UI"/>
              </a:rPr>
              <a:t>data.csv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491472" y="4681728"/>
            <a:ext cx="1115568" cy="274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491472" y="4700016"/>
            <a:ext cx="11155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EXPORT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65392" y="5065776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3D6"/>
                </a:solidFill>
                <a:latin typeface="Segoe UI"/>
              </a:rPr>
              <a:t>Any table exported to .csv
compatible with Excel</a:t>
            </a:r>
          </a:p>
        </p:txBody>
      </p:sp>
    </p:spTree>
    <p:transition spd="med" dur="500">
      <p:push/>
    </p:transition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6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91440"/>
            <a:ext cx="9326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Segoe UI"/>
              </a:rPr>
              <a:t>Security Implementation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0241280" y="182880"/>
            <a:ext cx="1600200" cy="38404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0" y="201168"/>
            <a:ext cx="1600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Slide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11365992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188720"/>
            <a:ext cx="5669280" cy="2331720"/>
          </a:xfrm>
          <a:prstGeom prst="rect">
            <a:avLst/>
          </a:prstGeom>
          <a:solidFill>
            <a:srgbClr val="1E2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188720"/>
            <a:ext cx="5669280" cy="9144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280160"/>
            <a:ext cx="475488" cy="2240280"/>
          </a:xfrm>
          <a:prstGeom prst="rect">
            <a:avLst/>
          </a:prstGeom>
          <a:solidFill>
            <a:srgbClr val="1819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137160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6366F1"/>
                </a:solidFill>
                <a:latin typeface="Segoe UI"/>
              </a:rPr>
              <a:t>SHA-256 Password Hashing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1901952"/>
            <a:ext cx="48463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B3D6"/>
                </a:solidFill>
                <a:latin typeface="Segoe UI"/>
              </a:rPr>
              <a:t>Passwords hashed with Java's MessageDigest API.
Never stored in plain text — DB only holds the hash.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1188720"/>
            <a:ext cx="5669280" cy="2331720"/>
          </a:xfrm>
          <a:prstGeom prst="rect">
            <a:avLst/>
          </a:prstGeom>
          <a:solidFill>
            <a:srgbClr val="1E2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188720"/>
            <a:ext cx="5669280" cy="91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280160"/>
            <a:ext cx="475488" cy="2240280"/>
          </a:xfrm>
          <a:prstGeom prst="rect">
            <a:avLst/>
          </a:prstGeom>
          <a:solidFill>
            <a:srgbClr val="042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76872" y="137160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0B981"/>
                </a:solidFill>
                <a:latin typeface="Segoe UI"/>
              </a:rPr>
              <a:t>SQL Injection Prevention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76872" y="1901952"/>
            <a:ext cx="48463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B3D6"/>
                </a:solidFill>
                <a:latin typeface="Segoe UI"/>
              </a:rPr>
              <a:t>All queries use JDBC PreparedStatements.
User input never concatenated into SQL strings.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675888"/>
            <a:ext cx="5669280" cy="2331720"/>
          </a:xfrm>
          <a:prstGeom prst="rect">
            <a:avLst/>
          </a:prstGeom>
          <a:solidFill>
            <a:srgbClr val="1E2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3675888"/>
            <a:ext cx="5669280" cy="91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3767328"/>
            <a:ext cx="475488" cy="2240280"/>
          </a:xfrm>
          <a:prstGeom prst="rect">
            <a:avLst/>
          </a:prstGeom>
          <a:solidFill>
            <a:srgbClr val="3D27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7552" y="3858768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9E0B"/>
                </a:solidFill>
                <a:latin typeface="Segoe UI"/>
              </a:rPr>
              <a:t>Role-Based Access Control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2" y="4389120"/>
            <a:ext cx="48463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B3D6"/>
                </a:solidFill>
                <a:latin typeface="Segoe UI"/>
              </a:rPr>
              <a:t>ADMIN: full CRUD on all modules.
USER: read-only, restricted access to sensitive tabs.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3675888"/>
            <a:ext cx="5669280" cy="2331720"/>
          </a:xfrm>
          <a:prstGeom prst="rect">
            <a:avLst/>
          </a:prstGeom>
          <a:solidFill>
            <a:srgbClr val="1E2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55080" y="3675888"/>
            <a:ext cx="5669280" cy="914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55080" y="3767328"/>
            <a:ext cx="475488" cy="2240280"/>
          </a:xfrm>
          <a:prstGeom prst="rect">
            <a:avLst/>
          </a:prstGeom>
          <a:solidFill>
            <a:srgbClr val="3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76872" y="3858768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F4444"/>
                </a:solidFill>
                <a:latin typeface="Segoe UI"/>
              </a:rPr>
              <a:t>Credential Management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76872" y="4389120"/>
            <a:ext cx="48463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B3D6"/>
                </a:solidFill>
                <a:latin typeface="Segoe UI"/>
              </a:rPr>
              <a:t>DB credentials stored in config.properties.
Excluded from git via .gitignore — never hardcoded.</a:t>
            </a:r>
          </a:p>
        </p:txBody>
      </p:sp>
    </p:spTree>
    <p:transition spd="med" dur="500">
      <p:fade/>
    </p:transition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6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91440"/>
            <a:ext cx="9326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Segoe UI"/>
              </a:rPr>
              <a:t>System Demo — Login &amp;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10241280" y="182880"/>
            <a:ext cx="1600200" cy="38404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0" y="201168"/>
            <a:ext cx="1600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Slide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11365992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12680" y="182880"/>
            <a:ext cx="1783080" cy="3291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12680" y="201168"/>
            <a:ext cx="1783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LIVE OUTPUT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078992"/>
            <a:ext cx="5486400" cy="5577840"/>
          </a:xfrm>
          <a:prstGeom prst="rect">
            <a:avLst/>
          </a:prstGeom>
          <a:solidFill>
            <a:srgbClr val="1E2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1115568"/>
            <a:ext cx="5257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184FF"/>
                </a:solidFill>
                <a:latin typeface="Segoe UI"/>
              </a:rPr>
              <a:t>Login — SHA-256 Authentication</a:t>
            </a:r>
          </a:p>
        </p:txBody>
      </p:sp>
      <p:pic>
        <p:nvPicPr>
          <p:cNvPr id="11" name="Picture 10" descr="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1508760"/>
            <a:ext cx="5321808" cy="498348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44768" y="1078992"/>
            <a:ext cx="5742432" cy="5577840"/>
          </a:xfrm>
          <a:prstGeom prst="rect">
            <a:avLst/>
          </a:prstGeom>
          <a:solidFill>
            <a:srgbClr val="1E2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54496" y="11155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184FF"/>
                </a:solidFill>
                <a:latin typeface="Segoe UI"/>
              </a:rPr>
              <a:t>Dashboard — Live KPI Cards</a:t>
            </a:r>
          </a:p>
        </p:txBody>
      </p:sp>
      <p:pic>
        <p:nvPicPr>
          <p:cNvPr id="14" name="Picture 13" descr="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08760"/>
            <a:ext cx="5596128" cy="4983480"/>
          </a:xfrm>
          <a:prstGeom prst="rect">
            <a:avLst/>
          </a:prstGeom>
        </p:spPr>
      </p:pic>
    </p:spTree>
    <p:transition spd="med" dur="500">
      <p:push/>
    </p:transition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6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91440"/>
            <a:ext cx="9326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Segoe UI"/>
              </a:rPr>
              <a:t>System Demo — Products &amp; Sales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241280" y="182880"/>
            <a:ext cx="1600200" cy="38404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0" y="201168"/>
            <a:ext cx="1600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Slide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11365992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12680" y="182880"/>
            <a:ext cx="1783080" cy="3291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12680" y="201168"/>
            <a:ext cx="1783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LIVE OUTPUT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078992"/>
            <a:ext cx="5486400" cy="5577840"/>
          </a:xfrm>
          <a:prstGeom prst="rect">
            <a:avLst/>
          </a:prstGeom>
          <a:solidFill>
            <a:srgbClr val="1E2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1115568"/>
            <a:ext cx="5257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184FF"/>
                </a:solidFill>
                <a:latin typeface="Segoe UI"/>
              </a:rPr>
              <a:t>Products — Add / Edit / Delete / Search</a:t>
            </a:r>
          </a:p>
        </p:txBody>
      </p:sp>
      <p:pic>
        <p:nvPicPr>
          <p:cNvPr id="11" name="Picture 10" descr="Produ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1508760"/>
            <a:ext cx="5321808" cy="498348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44768" y="1078992"/>
            <a:ext cx="5742432" cy="5577840"/>
          </a:xfrm>
          <a:prstGeom prst="rect">
            <a:avLst/>
          </a:prstGeom>
          <a:solidFill>
            <a:srgbClr val="1E2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54496" y="11155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184FF"/>
                </a:solidFill>
                <a:latin typeface="Segoe UI"/>
              </a:rPr>
              <a:t>Sales — Transactions with Stock Decrement</a:t>
            </a:r>
          </a:p>
        </p:txBody>
      </p:sp>
      <p:pic>
        <p:nvPicPr>
          <p:cNvPr id="14" name="Picture 13" descr="Sa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08760"/>
            <a:ext cx="5596128" cy="4983480"/>
          </a:xfrm>
          <a:prstGeom prst="rect">
            <a:avLst/>
          </a:prstGeom>
        </p:spPr>
      </p:pic>
    </p:spTree>
    <p:transition spd="med" dur="500">
      <p:push/>
    </p:transition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6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91440"/>
            <a:ext cx="9326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Segoe UI"/>
              </a:rPr>
              <a:t>System Demo — Reports &amp; Data Management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10241280" y="182880"/>
            <a:ext cx="1600200" cy="38404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0" y="201168"/>
            <a:ext cx="1600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Slide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11365992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12680" y="182880"/>
            <a:ext cx="1783080" cy="3291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12680" y="201168"/>
            <a:ext cx="1783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LIVE OUTPUT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078992"/>
            <a:ext cx="7223760" cy="5577840"/>
          </a:xfrm>
          <a:prstGeom prst="rect">
            <a:avLst/>
          </a:prstGeom>
          <a:solidFill>
            <a:srgbClr val="1E2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1115568"/>
            <a:ext cx="6995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184FF"/>
                </a:solidFill>
                <a:latin typeface="Segoe UI"/>
              </a:rPr>
              <a:t>Analytics — Top 5 Bar Chart + Revenue Summary</a:t>
            </a:r>
          </a:p>
        </p:txBody>
      </p:sp>
      <p:pic>
        <p:nvPicPr>
          <p:cNvPr id="11" name="Picture 10" descr="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1508760"/>
            <a:ext cx="7059168" cy="498348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863840" y="1078992"/>
            <a:ext cx="4023360" cy="2697480"/>
          </a:xfrm>
          <a:prstGeom prst="rect">
            <a:avLst/>
          </a:prstGeom>
          <a:solidFill>
            <a:srgbClr val="1E2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73568" y="1115568"/>
            <a:ext cx="3794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184FF"/>
                </a:solidFill>
                <a:latin typeface="Segoe UI"/>
              </a:rPr>
              <a:t>Categories</a:t>
            </a:r>
          </a:p>
        </p:txBody>
      </p:sp>
      <p:pic>
        <p:nvPicPr>
          <p:cNvPr id="14" name="Picture 13" descr="Categ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6992" y="1508760"/>
            <a:ext cx="3858768" cy="2176272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7863840" y="3950208"/>
            <a:ext cx="4023360" cy="2706624"/>
          </a:xfrm>
          <a:prstGeom prst="rect">
            <a:avLst/>
          </a:prstGeom>
          <a:solidFill>
            <a:srgbClr val="1E2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3986784"/>
            <a:ext cx="3794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184FF"/>
                </a:solidFill>
                <a:latin typeface="Segoe UI"/>
              </a:rPr>
              <a:t>Suppliers</a:t>
            </a:r>
          </a:p>
        </p:txBody>
      </p:sp>
      <p:pic>
        <p:nvPicPr>
          <p:cNvPr id="17" name="Picture 16" descr="Suppli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6992" y="4389120"/>
            <a:ext cx="3858768" cy="2176272"/>
          </a:xfrm>
          <a:prstGeom prst="rect">
            <a:avLst/>
          </a:prstGeom>
        </p:spPr>
      </p:pic>
    </p:spTree>
    <p:transition spd="med" dur="500">
      <p:push/>
    </p:transition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6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91440"/>
            <a:ext cx="9326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Segoe UI"/>
              </a:rPr>
              <a:t>Testing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241280" y="182880"/>
            <a:ext cx="1600200" cy="38404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0" y="201168"/>
            <a:ext cx="1600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Slide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11365992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78992"/>
            <a:ext cx="8686800" cy="40233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006840" y="1078992"/>
            <a:ext cx="2468880" cy="40233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521440" y="1078992"/>
            <a:ext cx="594360" cy="40233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1097280"/>
            <a:ext cx="8503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Test Case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16568" y="109728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Expected Result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39728" y="1097280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508760"/>
            <a:ext cx="8686800" cy="448056"/>
          </a:xfrm>
          <a:prstGeom prst="rect">
            <a:avLst/>
          </a:prstGeom>
          <a:solidFill>
            <a:srgbClr val="1E2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006840" y="1508760"/>
            <a:ext cx="2468880" cy="448056"/>
          </a:xfrm>
          <a:prstGeom prst="rect">
            <a:avLst/>
          </a:prstGeom>
          <a:solidFill>
            <a:srgbClr val="1E2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521440" y="1508760"/>
            <a:ext cx="594360" cy="448056"/>
          </a:xfrm>
          <a:prstGeom prst="rect">
            <a:avLst/>
          </a:prstGeom>
          <a:solidFill>
            <a:srgbClr val="1E2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4048" y="1572768"/>
            <a:ext cx="8503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Login with valid credentials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16568" y="157276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3D6"/>
                </a:solidFill>
                <a:latin typeface="Segoe UI"/>
              </a:rPr>
              <a:t>Dashboard opens correctly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539728" y="1572768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0B981"/>
                </a:solidFill>
                <a:latin typeface="Segoe UI"/>
              </a:rPr>
              <a:t>✓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1975104"/>
            <a:ext cx="8686800" cy="448056"/>
          </a:xfrm>
          <a:prstGeom prst="rect">
            <a:avLst/>
          </a:prstGeom>
          <a:solidFill>
            <a:srgbClr val="16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06840" y="1975104"/>
            <a:ext cx="2468880" cy="448056"/>
          </a:xfrm>
          <a:prstGeom prst="rect">
            <a:avLst/>
          </a:prstGeom>
          <a:solidFill>
            <a:srgbClr val="16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521440" y="1975104"/>
            <a:ext cx="594360" cy="448056"/>
          </a:xfrm>
          <a:prstGeom prst="rect">
            <a:avLst/>
          </a:prstGeom>
          <a:solidFill>
            <a:srgbClr val="16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4048" y="2039112"/>
            <a:ext cx="8503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Login with wrong password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16568" y="203911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3D6"/>
                </a:solidFill>
                <a:latin typeface="Segoe UI"/>
              </a:rPr>
              <a:t>Error dialog displayed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39728" y="203911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0B981"/>
                </a:solidFill>
                <a:latin typeface="Segoe UI"/>
              </a:rPr>
              <a:t>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2441448"/>
            <a:ext cx="8686800" cy="448056"/>
          </a:xfrm>
          <a:prstGeom prst="rect">
            <a:avLst/>
          </a:prstGeom>
          <a:solidFill>
            <a:srgbClr val="1E2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06840" y="2441448"/>
            <a:ext cx="2468880" cy="448056"/>
          </a:xfrm>
          <a:prstGeom prst="rect">
            <a:avLst/>
          </a:prstGeom>
          <a:solidFill>
            <a:srgbClr val="1E2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521440" y="2441448"/>
            <a:ext cx="594360" cy="448056"/>
          </a:xfrm>
          <a:prstGeom prst="rect">
            <a:avLst/>
          </a:prstGeom>
          <a:solidFill>
            <a:srgbClr val="1E2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048" y="2505456"/>
            <a:ext cx="8503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Add product with all fields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16568" y="250545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3D6"/>
                </a:solidFill>
                <a:latin typeface="Segoe UI"/>
              </a:rPr>
              <a:t>Product appears in table instantly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539728" y="2505456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0B981"/>
                </a:solidFill>
                <a:latin typeface="Segoe UI"/>
              </a:rPr>
              <a:t>✓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2907791"/>
            <a:ext cx="8686800" cy="448056"/>
          </a:xfrm>
          <a:prstGeom prst="rect">
            <a:avLst/>
          </a:prstGeom>
          <a:solidFill>
            <a:srgbClr val="16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006840" y="2907791"/>
            <a:ext cx="2468880" cy="448056"/>
          </a:xfrm>
          <a:prstGeom prst="rect">
            <a:avLst/>
          </a:prstGeom>
          <a:solidFill>
            <a:srgbClr val="16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521440" y="2907791"/>
            <a:ext cx="594360" cy="448056"/>
          </a:xfrm>
          <a:prstGeom prst="rect">
            <a:avLst/>
          </a:prstGeom>
          <a:solidFill>
            <a:srgbClr val="16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4048" y="2971799"/>
            <a:ext cx="8503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Add sale — sufficient stock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16568" y="2971799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3D6"/>
                </a:solidFill>
                <a:latin typeface="Segoe UI"/>
              </a:rPr>
              <a:t>Sale recorded, stock decremented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539728" y="2971799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0B981"/>
                </a:solidFill>
                <a:latin typeface="Segoe UI"/>
              </a:rPr>
              <a:t>✓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3374136"/>
            <a:ext cx="8686800" cy="448056"/>
          </a:xfrm>
          <a:prstGeom prst="rect">
            <a:avLst/>
          </a:prstGeom>
          <a:solidFill>
            <a:srgbClr val="1E2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006840" y="3374136"/>
            <a:ext cx="2468880" cy="448056"/>
          </a:xfrm>
          <a:prstGeom prst="rect">
            <a:avLst/>
          </a:prstGeom>
          <a:solidFill>
            <a:srgbClr val="1E2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1521440" y="3374136"/>
            <a:ext cx="594360" cy="448056"/>
          </a:xfrm>
          <a:prstGeom prst="rect">
            <a:avLst/>
          </a:prstGeom>
          <a:solidFill>
            <a:srgbClr val="1E2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84048" y="3438144"/>
            <a:ext cx="8503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Add sale — insufficient stock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16568" y="3438144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3D6"/>
                </a:solidFill>
                <a:latin typeface="Segoe UI"/>
              </a:rPr>
              <a:t>Error shown, no sale created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539728" y="3438144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0B981"/>
                </a:solidFill>
                <a:latin typeface="Segoe UI"/>
              </a:rPr>
              <a:t>✓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4320" y="3840479"/>
            <a:ext cx="8686800" cy="448056"/>
          </a:xfrm>
          <a:prstGeom prst="rect">
            <a:avLst/>
          </a:prstGeom>
          <a:solidFill>
            <a:srgbClr val="16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006840" y="3840479"/>
            <a:ext cx="2468880" cy="448056"/>
          </a:xfrm>
          <a:prstGeom prst="rect">
            <a:avLst/>
          </a:prstGeom>
          <a:solidFill>
            <a:srgbClr val="16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521440" y="3840479"/>
            <a:ext cx="594360" cy="448056"/>
          </a:xfrm>
          <a:prstGeom prst="rect">
            <a:avLst/>
          </a:prstGeom>
          <a:solidFill>
            <a:srgbClr val="16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84048" y="3904487"/>
            <a:ext cx="8503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Delete category linked to product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16568" y="3904487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3D6"/>
                </a:solidFill>
                <a:latin typeface="Segoe UI"/>
              </a:rPr>
              <a:t>Deletion blocked with message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539728" y="3904487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0B981"/>
                </a:solidFill>
                <a:latin typeface="Segoe UI"/>
              </a:rPr>
              <a:t>✓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" y="4306824"/>
            <a:ext cx="8686800" cy="448056"/>
          </a:xfrm>
          <a:prstGeom prst="rect">
            <a:avLst/>
          </a:prstGeom>
          <a:solidFill>
            <a:srgbClr val="1E2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006840" y="4306824"/>
            <a:ext cx="2468880" cy="448056"/>
          </a:xfrm>
          <a:prstGeom prst="rect">
            <a:avLst/>
          </a:prstGeom>
          <a:solidFill>
            <a:srgbClr val="1E2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1521440" y="4306824"/>
            <a:ext cx="594360" cy="448056"/>
          </a:xfrm>
          <a:prstGeom prst="rect">
            <a:avLst/>
          </a:prstGeom>
          <a:solidFill>
            <a:srgbClr val="1E2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84048" y="4370832"/>
            <a:ext cx="8503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Export CSV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16568" y="437083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3D6"/>
                </a:solidFill>
                <a:latin typeface="Segoe UI"/>
              </a:rPr>
              <a:t>File saved at chosen path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539728" y="437083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0B981"/>
                </a:solidFill>
                <a:latin typeface="Segoe UI"/>
              </a:rPr>
              <a:t>✓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74320" y="4773168"/>
            <a:ext cx="8686800" cy="448056"/>
          </a:xfrm>
          <a:prstGeom prst="rect">
            <a:avLst/>
          </a:prstGeom>
          <a:solidFill>
            <a:srgbClr val="16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006840" y="4773168"/>
            <a:ext cx="2468880" cy="448056"/>
          </a:xfrm>
          <a:prstGeom prst="rect">
            <a:avLst/>
          </a:prstGeom>
          <a:solidFill>
            <a:srgbClr val="16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1521440" y="4773168"/>
            <a:ext cx="594360" cy="448056"/>
          </a:xfrm>
          <a:prstGeom prst="rect">
            <a:avLst/>
          </a:prstGeom>
          <a:solidFill>
            <a:srgbClr val="16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84048" y="4837176"/>
            <a:ext cx="8503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Export Inventory Report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16568" y="483717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3D6"/>
                </a:solidFill>
                <a:latin typeface="Segoe UI"/>
              </a:rPr>
              <a:t>inventory_report.txt updated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539728" y="4837176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0B981"/>
                </a:solidFill>
                <a:latin typeface="Segoe UI"/>
              </a:rPr>
              <a:t>✓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4320" y="5239512"/>
            <a:ext cx="8686800" cy="448056"/>
          </a:xfrm>
          <a:prstGeom prst="rect">
            <a:avLst/>
          </a:prstGeom>
          <a:solidFill>
            <a:srgbClr val="1E2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006840" y="5239512"/>
            <a:ext cx="2468880" cy="448056"/>
          </a:xfrm>
          <a:prstGeom prst="rect">
            <a:avLst/>
          </a:prstGeom>
          <a:solidFill>
            <a:srgbClr val="1E2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1521440" y="5239512"/>
            <a:ext cx="594360" cy="448056"/>
          </a:xfrm>
          <a:prstGeom prst="rect">
            <a:avLst/>
          </a:prstGeom>
          <a:solidFill>
            <a:srgbClr val="1E2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84048" y="5303520"/>
            <a:ext cx="8503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Audit log verification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16568" y="530352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3D6"/>
                </a:solidFill>
                <a:latin typeface="Segoe UI"/>
              </a:rPr>
              <a:t>Every action logged with timestamp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539728" y="5303520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0B981"/>
                </a:solidFill>
                <a:latin typeface="Segoe UI"/>
              </a:rPr>
              <a:t>✓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74320" y="5705856"/>
            <a:ext cx="8686800" cy="448056"/>
          </a:xfrm>
          <a:prstGeom prst="rect">
            <a:avLst/>
          </a:prstGeom>
          <a:solidFill>
            <a:srgbClr val="16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006840" y="5705856"/>
            <a:ext cx="2468880" cy="448056"/>
          </a:xfrm>
          <a:prstGeom prst="rect">
            <a:avLst/>
          </a:prstGeom>
          <a:solidFill>
            <a:srgbClr val="16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1521440" y="5705856"/>
            <a:ext cx="594360" cy="448056"/>
          </a:xfrm>
          <a:prstGeom prst="rect">
            <a:avLst/>
          </a:prstGeom>
          <a:solidFill>
            <a:srgbClr val="16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84048" y="5769864"/>
            <a:ext cx="8503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Role restriction (USER role)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116568" y="5769864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3D6"/>
                </a:solidFill>
                <a:latin typeface="Segoe UI"/>
              </a:rPr>
              <a:t>Admin-only tabs hidden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539728" y="5769864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0B981"/>
                </a:solidFill>
                <a:latin typeface="Segoe UI"/>
              </a:rPr>
              <a:t>✓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229600" y="64922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1" i="0">
                <a:solidFill>
                  <a:srgbClr val="10B981"/>
                </a:solidFill>
                <a:latin typeface="Segoe UI"/>
              </a:rPr>
              <a:t>10 / 10 Passed ✓</a:t>
            </a:r>
          </a:p>
        </p:txBody>
      </p:sp>
    </p:spTree>
    <p:transition spd="med" dur="500">
      <p:fade/>
    </p:transition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Segoe UI"/>
              </a:rPr>
              <a:t>Conclusion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3200400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15568"/>
            <a:ext cx="64008" cy="6400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24128"/>
            <a:ext cx="74980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Segoe UI"/>
              </a:rPr>
              <a:t>All 4 OOP pillars concretely applied — not just defined.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911096"/>
            <a:ext cx="64008" cy="6400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819656"/>
            <a:ext cx="74980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Segoe UI"/>
              </a:rPr>
              <a:t>MySQL 8.0 integration via JDBC PreparedStatements — no raw SQL.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706624"/>
            <a:ext cx="64008" cy="6400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15184"/>
            <a:ext cx="74980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Segoe UI"/>
              </a:rPr>
              <a:t>File handling — audit log &amp; inventory report via FileWriter API.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502152"/>
            <a:ext cx="64008" cy="6400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410712"/>
            <a:ext cx="74980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Segoe UI"/>
              </a:rPr>
              <a:t>Security: SHA-256 hashing, RBAC, PreparedStatement injection prevention.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97680"/>
            <a:ext cx="64008" cy="6400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206240"/>
            <a:ext cx="74980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Segoe UI"/>
              </a:rPr>
              <a:t>10/10 functional test cases passed — system is production-ready.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80" y="960120"/>
            <a:ext cx="3520440" cy="5120640"/>
          </a:xfrm>
          <a:prstGeom prst="rect">
            <a:avLst/>
          </a:prstGeom>
          <a:solidFill>
            <a:srgbClr val="1E2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12480" y="960120"/>
            <a:ext cx="3520440" cy="420624"/>
          </a:xfrm>
          <a:prstGeom prst="rect">
            <a:avLst/>
          </a:prstGeom>
          <a:solidFill>
            <a:srgbClr val="3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22208" y="98755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8184FF"/>
                </a:solidFill>
                <a:latin typeface="Segoe UI"/>
              </a:rPr>
              <a:t>Future Work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49640" y="1600200"/>
            <a:ext cx="64008" cy="64008"/>
          </a:xfrm>
          <a:prstGeom prst="rect">
            <a:avLst/>
          </a:prstGeom>
          <a:solidFill>
            <a:srgbClr val="81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32519" y="1508760"/>
            <a:ext cx="2971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B3D6"/>
                </a:solidFill>
                <a:latin typeface="Segoe UI"/>
              </a:rPr>
              <a:t>REST API backend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49640" y="2377440"/>
            <a:ext cx="64008" cy="64008"/>
          </a:xfrm>
          <a:prstGeom prst="rect">
            <a:avLst/>
          </a:prstGeom>
          <a:solidFill>
            <a:srgbClr val="81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32519" y="2286000"/>
            <a:ext cx="2971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B3D6"/>
                </a:solidFill>
                <a:latin typeface="Segoe UI"/>
              </a:rPr>
              <a:t>PDF invoice generation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49640" y="3154680"/>
            <a:ext cx="64008" cy="64008"/>
          </a:xfrm>
          <a:prstGeom prst="rect">
            <a:avLst/>
          </a:prstGeom>
          <a:solidFill>
            <a:srgbClr val="81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32519" y="3063240"/>
            <a:ext cx="2971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B3D6"/>
                </a:solidFill>
                <a:latin typeface="Segoe UI"/>
              </a:rPr>
              <a:t>Barcode scanner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549640" y="3931920"/>
            <a:ext cx="64008" cy="64008"/>
          </a:xfrm>
          <a:prstGeom prst="rect">
            <a:avLst/>
          </a:prstGeom>
          <a:solidFill>
            <a:srgbClr val="81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32519" y="3840480"/>
            <a:ext cx="2971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B3D6"/>
                </a:solidFill>
                <a:latin typeface="Segoe UI"/>
              </a:rPr>
              <a:t>Email alerts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49640" y="4709159"/>
            <a:ext cx="64008" cy="64008"/>
          </a:xfrm>
          <a:prstGeom prst="rect">
            <a:avLst/>
          </a:prstGeom>
          <a:solidFill>
            <a:srgbClr val="81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32519" y="4617720"/>
            <a:ext cx="2971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B3D6"/>
                </a:solidFill>
                <a:latin typeface="Segoe UI"/>
              </a:rPr>
              <a:t>JUnit 5 test suite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5742432"/>
            <a:ext cx="12188952" cy="1115568"/>
          </a:xfrm>
          <a:prstGeom prst="rect">
            <a:avLst/>
          </a:prstGeom>
          <a:solidFill>
            <a:srgbClr val="16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0" y="5852160"/>
            <a:ext cx="121889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500" b="1" i="0">
                <a:solidFill>
                  <a:srgbClr val="FFFFFF"/>
                </a:solidFill>
                <a:latin typeface="Segoe UI"/>
              </a:rPr>
              <a:t>Thank You  —  Questions Welcome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0" y="630936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B3D6"/>
                </a:solidFill>
                <a:latin typeface="Segoe UI"/>
              </a:rPr>
              <a:t>Muhammad Zaid  |  University of Engineering and Technology  |  CMPE-252L</a:t>
            </a:r>
          </a:p>
        </p:txBody>
      </p:sp>
    </p:spTree>
    <p:transition spd="med" dur="700">
      <p:fade/>
    </p:transition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