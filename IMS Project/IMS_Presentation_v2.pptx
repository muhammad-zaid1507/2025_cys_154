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8184F4"/>
          </a:solidFill>
          <a:ln>
            <a:solidFill>
              <a:srgbClr val="818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4152" y="0"/>
            <a:ext cx="4114800" cy="68580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2920"/>
            <a:ext cx="2926080" cy="38404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029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OOP FINAL PROJECT  —  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6366F1"/>
                </a:solidFill>
                <a:latin typeface="Calibri"/>
              </a:rPr>
              <a:t>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029200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A full-featured Java Swing desktop application demonstrating
all four pillars of Object-Oriented Programming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7032" y="1097280"/>
            <a:ext cx="3749039" cy="4663440"/>
          </a:xfrm>
          <a:prstGeom prst="rect">
            <a:avLst/>
          </a:prstGeom>
          <a:solidFill>
            <a:srgbClr val="2D2B55"/>
          </a:solidFill>
          <a:ln>
            <a:solidFill>
              <a:srgbClr val="2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7032" y="1097280"/>
            <a:ext cx="3749039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3" y="1325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4F4"/>
                </a:solidFill>
                <a:latin typeface="Calibri"/>
              </a:rPr>
              <a:t>COURSE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3" y="15819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CS-301 Object-Oriented
Programming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3" y="2148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4F4"/>
                </a:solidFill>
                <a:latin typeface="Calibri"/>
              </a:rPr>
              <a:t>TECH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3" y="24048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Java SE  •  MySQL  •  Swing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3" y="2971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4F4"/>
                </a:solidFill>
                <a:latin typeface="Calibri"/>
              </a:rPr>
              <a:t>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3" y="32278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MVC + DAO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3" y="3794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4F4"/>
                </a:solidFill>
                <a:latin typeface="Calibri"/>
              </a:rP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3" y="40507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BCrypt + Role-Based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3" y="4617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4F4"/>
                </a:solidFill>
                <a:latin typeface="Calibri"/>
              </a:rPr>
              <a:t>SEMESTER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3" y="48737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Spring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Presentation 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What we will cover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457200" cy="5029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379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874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Project Overview &amp; Problem Statement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79191"/>
            <a:ext cx="457200" cy="5029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3405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770631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OOP Pillars — Encapsulation &amp; Abstraction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75304"/>
            <a:ext cx="457200" cy="5029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630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666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OOP Pillars — Inheritance &amp; Polymorphism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71416"/>
            <a:ext cx="457200" cy="5029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526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5628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System Architecture — MVC + DAO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67528"/>
            <a:ext cx="457200" cy="5029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422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4589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Database Design — 6 Tables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783080"/>
            <a:ext cx="457200" cy="502920"/>
          </a:xfrm>
          <a:prstGeom prst="rect">
            <a:avLst/>
          </a:prstGeom>
          <a:solidFill>
            <a:srgbClr val="8184F4"/>
          </a:solidFill>
          <a:ln>
            <a:solidFill>
              <a:srgbClr val="818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8379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1874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Feature Walkthrough — 7 Modules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679191"/>
            <a:ext cx="457200" cy="5029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73405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2770631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Security &amp; Advanced Implementations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575304"/>
            <a:ext cx="457200" cy="50292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630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3666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GUI Design &amp; User Experience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471416"/>
            <a:ext cx="457200" cy="5029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526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45628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Testing &amp; Results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5367528"/>
            <a:ext cx="457200" cy="50292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422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54589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What is the Inventory Management System?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A desktop application built with Java SE and Java Swing that provides small-to-medium businesses a complete platform to manage products, stock, sales, purchases, suppliers and customers — all through a modern dark-indigo themed GUI.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97480"/>
            <a:ext cx="2788920" cy="352044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97480"/>
            <a:ext cx="54864" cy="352044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8072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Products &amp;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172968"/>
            <a:ext cx="2532888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Full CRUD operations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Real-time stock tracking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Low-stock alerts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Reorder-level thresholds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697480"/>
            <a:ext cx="2788920" cy="352044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97480"/>
            <a:ext cx="54864" cy="352044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28072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Sales &amp; Purchases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3172968"/>
            <a:ext cx="2532888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Record outgoing sales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Record incoming stock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Auto stock update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Supplier linkage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697480"/>
            <a:ext cx="2788920" cy="352044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697480"/>
            <a:ext cx="54864" cy="352044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8072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People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172968"/>
            <a:ext cx="2532888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Customer database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Supplier database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Role-based user access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Admin vs. User roles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697480"/>
            <a:ext cx="2788920" cy="352044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2697480"/>
            <a:ext cx="54864" cy="352044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28072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4F4"/>
                </a:solidFill>
                <a:latin typeface="Calibri"/>
              </a:rPr>
              <a:t>Analytics &amp;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172968"/>
            <a:ext cx="2532888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Live KPI dashboard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Java2D bar chart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CSV export &amp; print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Timestamped audit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5394960" cy="443484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5394960" cy="5486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019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✕  Manual spreadsheets are error-prone and slow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✕  No real-time stock visibility or low-stock alerts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✕  No centralised supplier / customer records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✕  No audit trail of who changed what and when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✕  Passwords stored insecurely (plain text / MD5)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✕  No role separation — every user can delete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5577840" cy="443484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5577840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019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Our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✔  Demonstrate all 4 OOP pillars in a real app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✔  MVC + DAO clean architecture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✔  BCrypt password hashing (cost factor 12)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✔  Role-based access control (Admin / User)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✔  Live dashboard with auto-refresh every 30 s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✔  Full audit log of every system event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✔  CSV export &amp; print for all 6 modules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OOP Pillar 1 — Encapsulation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Hiding data behind controlled interfaces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137160"/>
            <a:ext cx="1371600" cy="32918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1737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Pillar 1/4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7830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4A3B8"/>
                </a:solidFill>
                <a:latin typeface="Calibri"/>
              </a:rPr>
              <a:t>Every model class declares its fields private. External code can only read/write through public getters and setters — this is encapsulation in action.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5669280" cy="3794760"/>
          </a:xfrm>
          <a:prstGeom prst="rect">
            <a:avLst/>
          </a:prstGeom>
          <a:solidFill>
            <a:srgbClr val="2D2B55"/>
          </a:solidFill>
          <a:ln>
            <a:solidFill>
              <a:srgbClr val="2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423160"/>
            <a:ext cx="54864" cy="37947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532888"/>
            <a:ext cx="5413248" cy="3593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public class Product {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// ── All fields PRIVATE ──────────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private int    productId;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private String productName;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private int    quantity;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private double price;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private int    reorderLevel;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// ── PUBLIC accessors only ───────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public int    getProductId()    { return productId; }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public String getProductName()  { return productName; }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public int    getQuantity()     { return quantity; }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public void   setQuantity(int q){ this.quantity = q; }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public double getPrice()        { return price; }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423160"/>
            <a:ext cx="5577840" cy="169164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423160"/>
            <a:ext cx="54864" cy="169164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53288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4F4"/>
                </a:solidFill>
                <a:latin typeface="Calibri"/>
              </a:rPr>
              <a:t>Why Encapsulation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898648"/>
            <a:ext cx="53218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GUI never touches raw fields directly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Validation can be added inside setters later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Change internal storage without breaking UI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Industry-standard Java Bean convention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251960"/>
            <a:ext cx="5577840" cy="1965960"/>
          </a:xfrm>
          <a:prstGeom prst="rect">
            <a:avLst/>
          </a:prstGeom>
          <a:solidFill>
            <a:srgbClr val="2D2B55"/>
          </a:solidFill>
          <a:ln>
            <a:solidFill>
              <a:srgbClr val="2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251960"/>
            <a:ext cx="54864" cy="19659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708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All 6 Model Classes use Encapsulation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4800600"/>
            <a:ext cx="1600200" cy="34747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8371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4800600"/>
            <a:ext cx="1600200" cy="34747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48371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40" y="4800600"/>
            <a:ext cx="1600200" cy="34747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48371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Supplier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5276088"/>
            <a:ext cx="1600200" cy="34747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31266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5276088"/>
            <a:ext cx="1600200" cy="34747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531266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40" y="5276088"/>
            <a:ext cx="1600200" cy="34747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531266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Purchase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OOP Pillar 2 — Abstraction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Hiding complexity behind simple interfaces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137160"/>
            <a:ext cx="1371600" cy="32918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1737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Pillar 2/4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7830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4A3B8"/>
                </a:solidFill>
                <a:latin typeface="Calibri"/>
              </a:rPr>
              <a:t>Two abstraction layers eliminate all complexity from the GUI — it never sees a JDBC URL, a SQL query, or a driver class name.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920240"/>
            <a:ext cx="10881360" cy="100584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920240"/>
            <a:ext cx="73152" cy="100584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0116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  <a:latin typeface="Calibri"/>
              </a:rPr>
              <a:t>DashboardFrame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423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Calls: productDAO.getAllProducts()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944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366F1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46120"/>
            <a:ext cx="10881360" cy="100584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46120"/>
            <a:ext cx="73152" cy="10058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375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ProductDAO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749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Executes SQL PreparedStatement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2702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366F1"/>
                </a:solidFill>
                <a:latin typeface="Calibri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572000"/>
            <a:ext cx="10881360" cy="100584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572000"/>
            <a:ext cx="73152" cy="10058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634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DatabaseConnection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Returns JDBC Connection object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55961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366F1"/>
                </a:solidFill>
                <a:latin typeface="Calibri"/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97880"/>
            <a:ext cx="10881360" cy="100584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897880"/>
            <a:ext cx="73152" cy="100584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989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</a:rPr>
              <a:t>MySQL 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Stores &amp; retrieves raw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645152"/>
            <a:ext cx="11521440" cy="1691640"/>
          </a:xfrm>
          <a:prstGeom prst="rect">
            <a:avLst/>
          </a:prstGeom>
          <a:solidFill>
            <a:srgbClr val="2D2B55"/>
          </a:solidFill>
          <a:ln>
            <a:solidFill>
              <a:srgbClr val="2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645152"/>
            <a:ext cx="54864" cy="1691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754880"/>
            <a:ext cx="11265408" cy="1490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// DatabaseConnection.java — the ENTIRE JDBC complexity is here, hidden from everyone else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public static Connection getConnection() throws SQLException {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return DriverManager.getConnection("jdbc:mysql://localhost:3306/ims_db", USER, PASS);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}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// ProductDAO.java — hides ALL SQL from the GUI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public ArrayList&lt;Product&gt; getAllProducts() { /* PreparedStatement, ResultSet... */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OOP Pillar 3 — Inheritance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Reusing and extending existing behaviour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137160"/>
            <a:ext cx="1371600" cy="32918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1737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Pillar 3/4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7830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4A3B8"/>
                </a:solidFill>
                <a:latin typeface="Calibri"/>
              </a:rPr>
              <a:t>The IMS leverages Java's rich Swing inheritance hierarchy and defines custom subclasses to add specialised rendering capabilities.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468880"/>
            <a:ext cx="3474720" cy="621792"/>
          </a:xfrm>
          <a:prstGeom prst="rect">
            <a:avLst/>
          </a:prstGeom>
          <a:solidFill>
            <a:srgbClr val="2D2B55"/>
          </a:solidFill>
          <a:ln>
            <a:solidFill>
              <a:srgbClr val="2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5968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94A3B8"/>
                </a:solidFill>
                <a:latin typeface="Calibri"/>
              </a:rPr>
              <a:t>java.awt.Component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337560"/>
            <a:ext cx="3474720" cy="621792"/>
          </a:xfrm>
          <a:prstGeom prst="rect">
            <a:avLst/>
          </a:prstGeom>
          <a:solidFill>
            <a:srgbClr val="2D2B55"/>
          </a:solidFill>
          <a:ln>
            <a:solidFill>
              <a:srgbClr val="2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4655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94A3B8"/>
                </a:solidFill>
                <a:latin typeface="Calibri"/>
              </a:rPr>
              <a:t>java.awt.Container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3474720" cy="62179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342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8184F4"/>
                </a:solidFill>
                <a:latin typeface="Calibri"/>
              </a:rPr>
              <a:t>javax.swing.JFrame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4206240"/>
            <a:ext cx="3474720" cy="62179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43342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8184F4"/>
                </a:solidFill>
                <a:latin typeface="Calibri"/>
              </a:rPr>
              <a:t>javax.swing.JComponent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74920"/>
            <a:ext cx="3474720" cy="62179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029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DashboardFrame  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5074920"/>
            <a:ext cx="3474720" cy="62179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52029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LoginFrame  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5074920"/>
            <a:ext cx="3474720" cy="62179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52029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8184F4"/>
                </a:solidFill>
                <a:latin typeface="Calibri"/>
              </a:rPr>
              <a:t>javax.swing.JPanel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5897880"/>
            <a:ext cx="3474720" cy="6217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60258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SalesChartPanel  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1828800"/>
            <a:ext cx="3474720" cy="43891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3920" y="1828800"/>
            <a:ext cx="54864" cy="43891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19202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Key Override: paintComponent()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377440"/>
            <a:ext cx="3474720" cy="3474720"/>
          </a:xfrm>
          <a:prstGeom prst="rect">
            <a:avLst/>
          </a:prstGeom>
          <a:solidFill>
            <a:srgbClr val="2D2B55"/>
          </a:solidFill>
          <a:ln>
            <a:solidFill>
              <a:srgbClr val="2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2377440"/>
            <a:ext cx="54864" cy="3474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68512" y="2487168"/>
            <a:ext cx="3218688" cy="3273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class SalesChartPanel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extends JPanel {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@Override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protected void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paintComponent(Graphics g){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super.paintComponent(g);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// custom bar chart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// using Graphics2D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}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OOP Pillar 4 —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Same name, different behaviour at runtime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137160"/>
            <a:ext cx="1371600" cy="32918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1737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Pillar 4/4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83080"/>
            <a:ext cx="5029200" cy="18288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83080"/>
            <a:ext cx="54864" cy="18288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89280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Runtime Polymorphism (Overriding)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258568"/>
            <a:ext cx="47731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@Override paintComponent() in SalesChartPanel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@Override doInBackground() in SwingWorker subclass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@Override done() for EDT callback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Anonymous ActionListener implementations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783080"/>
            <a:ext cx="5943600" cy="18288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1783080"/>
            <a:ext cx="54864" cy="18288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1892808"/>
            <a:ext cx="5715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Compile-Time Polymorphism (Overloading)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2258568"/>
            <a:ext cx="56875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showMsg(String msg)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showMsg(String msg, String title)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showErr(String msg)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E2E8F0"/>
                </a:solidFill>
                <a:latin typeface="Calibri"/>
              </a:rPr>
              <a:t>  •  showErr(String msg, Exception 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5394960" cy="2926080"/>
          </a:xfrm>
          <a:prstGeom prst="rect">
            <a:avLst/>
          </a:prstGeom>
          <a:solidFill>
            <a:srgbClr val="2D2B55"/>
          </a:solidFill>
          <a:ln>
            <a:solidFill>
              <a:srgbClr val="2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54864" cy="29260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858767"/>
            <a:ext cx="5138928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// SwingWorker — doInBackground OVERRIDDEN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new SwingWorker&lt;Void,Void&gt;() {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@Override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protected Void doInBackground() {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  loadAllData();  // background thread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  return null;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}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@Override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protected void done() {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  updateTableModels(); // EDT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}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}.execute();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3749039"/>
            <a:ext cx="5760720" cy="2926080"/>
          </a:xfrm>
          <a:prstGeom prst="rect">
            <a:avLst/>
          </a:prstGeom>
          <a:solidFill>
            <a:srgbClr val="2D2B55"/>
          </a:solidFill>
          <a:ln>
            <a:solidFill>
              <a:srgbClr val="2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3749039"/>
            <a:ext cx="54864" cy="29260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3858767"/>
            <a:ext cx="5504688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// METHOD OVERLOADING (same name, diff args)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private void showMsg(String msg) {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JOptionPane.showMessageDialog(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    this, msg);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}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private void showMsg(String msg,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                 String title) {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JOptionPane.showMessageDialog(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    this, msg, title,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    JOptionPane.INFORMATION_MESSAGE);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OOP Pillars — Summary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Where each concept appears in the codebase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11521440" cy="107899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73152" cy="10789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338560" y="1783080"/>
            <a:ext cx="548640" cy="10789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0" y="20391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874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Encapsulation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185623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184F4"/>
                </a:solidFill>
                <a:latin typeface="Calibri"/>
              </a:rPr>
              <a:t>Product, Category, Supplier,
Customer, Sale, Purchase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947672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Private fields + getters/setters in all 6 model classes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71800"/>
            <a:ext cx="11521440" cy="107899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971800"/>
            <a:ext cx="73152" cy="10789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338560" y="2971800"/>
            <a:ext cx="548640" cy="10789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32278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063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Abstraction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04495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184F4"/>
                </a:solidFill>
                <a:latin typeface="Calibri"/>
              </a:rPr>
              <a:t>DatabaseConnection, all 6 DAOs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136392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GUI never sees JDBC or SQL — only domain methods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60520"/>
            <a:ext cx="11521440" cy="107899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160520"/>
            <a:ext cx="73152" cy="10789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338560" y="4160520"/>
            <a:ext cx="548640" cy="10789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0" y="44165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251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Inheritance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23367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184F4"/>
                </a:solidFill>
                <a:latin typeface="Calibri"/>
              </a:rPr>
              <a:t>DashboardFrame, LoginFrame,
SalesChartPanel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325112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Extends JFrame / JPanel; adds custom painting &amp; logic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11521440" cy="107899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349240"/>
            <a:ext cx="73152" cy="10789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338560" y="5349240"/>
            <a:ext cx="548640" cy="10789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338560" y="5605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440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Polymorphism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542239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184F4"/>
                </a:solidFill>
                <a:latin typeface="Calibri"/>
              </a:rPr>
              <a:t>SwingWorker, ActionListeners,
showMsg overloads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513832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Runtime overriding + compile-time overloading throughout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 — MVC + DAO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Three-layer separation of concerns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11521440" cy="117043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11521440" cy="6400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928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PRESENTATION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8562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184F4"/>
                </a:solidFill>
                <a:latin typeface="Calibri"/>
              </a:rPr>
              <a:t>DashboardFrame  •  LoginFrame  •  SalesChartPanel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5623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All Swing widgets, layouts, event handlers.
No SQL, no business logic.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953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▼  calls  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11521440" cy="117043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154680"/>
            <a:ext cx="11521440" cy="64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644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DAO / BUSINESS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2278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184F4"/>
                </a:solidFill>
                <a:latin typeface="Calibri"/>
              </a:rPr>
              <a:t>ProductDAO  •  SaleDAO  •  PurchaseDAO  •  SupplierDAO
CategoryDAO  •  CustomerDAO  •  PasswordUtil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22783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Translates GUI events into SQL. Returns model objects.
No Swing imports.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325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▼  calls  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26280"/>
            <a:ext cx="11521440" cy="117043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526280"/>
            <a:ext cx="1152144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360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DATA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5994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184F4"/>
                </a:solidFill>
                <a:latin typeface="Calibri"/>
              </a:rPr>
              <a:t>MySQL 8.0  ims_db  (6 tables)  via JDBC PreparedStatement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59943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Pure relational storage. FK constraints enforced.
DatabaseConnection.getConnection() singleton.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DAO Pattern — Data Access 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Isolating every SQL query behind a clean Java 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4A3B8"/>
                </a:solidFill>
                <a:latin typeface="Calibri"/>
              </a:rPr>
              <a:t>Each DAO class owns exactly ONE database table and exposes CRUD + business methods that return typed Java objects. The GUI never writes a single line of SQL.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3749039" cy="18288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3749039" cy="6400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603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4F4"/>
                </a:solidFill>
                <a:latin typeface="Calibri"/>
              </a:rPr>
              <a:t>ProductDAO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60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→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718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getAllProducts()()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addProduct()()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updateProduct()()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deleteProduct()()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getLowStockProducts()()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468880"/>
            <a:ext cx="3749039" cy="18288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2468880"/>
            <a:ext cx="3749039" cy="6400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5603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4F4"/>
                </a:solidFill>
                <a:latin typeface="Calibri"/>
              </a:rPr>
              <a:t>SaleDAO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60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→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718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getAllSales()()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addSale()()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getTotalAmount()()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getMonthlyData()()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468880"/>
            <a:ext cx="3749039" cy="18288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2468880"/>
            <a:ext cx="3749039" cy="6400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25603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4F4"/>
                </a:solidFill>
                <a:latin typeface="Calibri"/>
              </a:rPr>
              <a:t>PurchaseDAO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560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→ purchases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9718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getAllPurchases()()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addPurchase()()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getTotalCost()()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80560"/>
            <a:ext cx="3749039" cy="18288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480560"/>
            <a:ext cx="3749039" cy="6400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572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4F4"/>
                </a:solidFill>
                <a:latin typeface="Calibri"/>
              </a:rPr>
              <a:t>SupplierDAO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5720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→ suppliers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9834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getAllSuppliers()()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addSupplier()()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deleteSupplier()()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getProductCount()()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480560"/>
            <a:ext cx="3749039" cy="18288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480560"/>
            <a:ext cx="3749039" cy="6400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4572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4F4"/>
                </a:solidFill>
                <a:latin typeface="Calibri"/>
              </a:rPr>
              <a:t>CategoryDAO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5720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→ categories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9834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getAllCategories()()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addCategory()()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deleteCategory()()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getProductCount()()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480560"/>
            <a:ext cx="3749039" cy="18288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4480560"/>
            <a:ext cx="3749039" cy="6400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4572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4F4"/>
                </a:solidFill>
                <a:latin typeface="Calibri"/>
              </a:rPr>
              <a:t>CustomerDAO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45720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→ customers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9834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getAllCustomers()()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addCustomer()()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5B4FC"/>
                </a:solidFill>
                <a:latin typeface="Courier New"/>
              </a:rPr>
              <a:t>  deleteCustomer()()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Database Design — ims_db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6 normalised tables with full FK integrity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11521440" cy="5943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64008" cy="5943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8928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6366F1"/>
                </a:solidFill>
                <a:latin typeface="Calibri"/>
              </a:rP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89280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userid PK  •  username UNIQUE  •  password (BCrypt hash)  •  role ENUM('admin','user')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50591"/>
            <a:ext cx="11521440" cy="5943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450591"/>
            <a:ext cx="64008" cy="5943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560319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F46E5"/>
                </a:solidFill>
                <a:latin typeface="Calibri"/>
              </a:rPr>
              <a:t>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560319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categoryid PK  •  categoryname UNIQUE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18104"/>
            <a:ext cx="11521440" cy="5943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118104"/>
            <a:ext cx="64008" cy="5943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2278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6366F1"/>
                </a:solidFill>
                <a:latin typeface="Calibri"/>
              </a:rPr>
              <a:t>suppliers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22783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supplierid PK  •  suppliername  •  contact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85615"/>
            <a:ext cx="11521440" cy="5943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785615"/>
            <a:ext cx="64008" cy="5943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895343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F46E5"/>
                </a:solidFill>
                <a:latin typeface="Calibri"/>
              </a:rPr>
              <a:t>products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895343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productid PK  •  productname  •  quantity  •  price  •  categoryid FK  •  supplierid FK  •  reorderlevel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53128"/>
            <a:ext cx="11521440" cy="5943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453128"/>
            <a:ext cx="64008" cy="5943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56285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6366F1"/>
                </a:solidFill>
                <a:latin typeface="Calibri"/>
              </a:rPr>
              <a:t>sales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562856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saleid PK  •  productid FK  •  customerid FK  •  quantity  •  totalprice  •  saledate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120640"/>
            <a:ext cx="11521440" cy="5943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120640"/>
            <a:ext cx="64008" cy="59436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2303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F46E5"/>
                </a:solidFill>
                <a:latin typeface="Calibri"/>
              </a:rPr>
              <a:t>purchases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23036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purchaseid PK  •  productid FK  •  supplierid FK  •  quantity  •  totalcost  •  purchasedate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88152"/>
            <a:ext cx="11521440" cy="5943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5788152"/>
            <a:ext cx="64008" cy="5943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8978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6366F1"/>
                </a:solidFill>
                <a:latin typeface="Calibri"/>
              </a:rPr>
              <a:t>customers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58978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customerid PK  •  customername  •  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00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4F4"/>
                </a:solidFill>
                <a:latin typeface="Calibri"/>
              </a:rPr>
              <a:t>Foreign Key Relationships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3796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products.categoryid → categories  |  products.supplierid → suppliers  |  sales.productid → products  |  sales.customerid → customers  |  purchases.productid → products  |  purchases.supplierid → suppliers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 Walkthrough — 7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Complete functionality across all business areas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585216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64008" cy="111556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0" y="1783080"/>
            <a:ext cx="640080" cy="111556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0574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874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6366F1"/>
                </a:solidFill>
                <a:latin typeface="Calibri"/>
              </a:rP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31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BCrypt login, role detection, failed-attempt message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17520"/>
            <a:ext cx="585216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64008" cy="11155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0" y="3017520"/>
            <a:ext cx="640080" cy="11155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32918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08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0B981"/>
                </a:solidFill>
                <a:latin typeface="Calibri"/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4 KPI cards, live clock, Java2D chart, 30-s auto-refresh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51960"/>
            <a:ext cx="585216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251960"/>
            <a:ext cx="64008" cy="11155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77840" y="4251960"/>
            <a:ext cx="640080" cy="11155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45262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434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59E0B"/>
                </a:solidFill>
                <a:latin typeface="Calibri"/>
              </a:rPr>
              <a:t>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00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Full CRUD, category/supplier dropdowns, search, sort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486400"/>
            <a:ext cx="585216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486400"/>
            <a:ext cx="64008" cy="1115568"/>
          </a:xfrm>
          <a:prstGeom prst="rect">
            <a:avLst/>
          </a:prstGeom>
          <a:solidFill>
            <a:srgbClr val="8184F4"/>
          </a:solidFill>
          <a:ln>
            <a:solidFill>
              <a:srgbClr val="818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77840" y="5486400"/>
            <a:ext cx="640080" cy="1115568"/>
          </a:xfrm>
          <a:prstGeom prst="rect">
            <a:avLst/>
          </a:prstGeom>
          <a:solidFill>
            <a:srgbClr val="8184F4"/>
          </a:solidFill>
          <a:ln>
            <a:solidFill>
              <a:srgbClr val="818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5760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577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8184F4"/>
                </a:solidFill>
                <a:latin typeface="Calibri"/>
              </a:rPr>
              <a:t>Sales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035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Add sale → auto-decrement stock, total calculation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1783080"/>
            <a:ext cx="585216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1783080"/>
            <a:ext cx="64008" cy="11155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704320" y="1783080"/>
            <a:ext cx="640080" cy="11155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704320" y="20574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1874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0B981"/>
                </a:solidFill>
                <a:latin typeface="Calibri"/>
              </a:rPr>
              <a:t>Purchases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2331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Add purchase → auto-increment stock, supplier link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017520"/>
            <a:ext cx="585216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3017520"/>
            <a:ext cx="64008" cy="111556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704320" y="3017520"/>
            <a:ext cx="640080" cy="111556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704320" y="32918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3108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EF4444"/>
                </a:solidFill>
                <a:latin typeface="Calibri"/>
              </a:rPr>
              <a:t>Suppliers/Categories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566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CRUD with FK guard — cannot delete if referenced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4251960"/>
            <a:ext cx="585216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4251960"/>
            <a:ext cx="64008" cy="1115568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704320" y="4251960"/>
            <a:ext cx="640080" cy="1115568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704320" y="45262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3434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BBF24"/>
                </a:solidFill>
                <a:latin typeface="Calibri"/>
              </a:rPr>
              <a:t>Reports &amp; Audit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4800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CSV export any table, print dialog, ims_log.txt audit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Security &amp; Advanced Implementations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Production-grade techniques used throughout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2834640" cy="48463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54864" cy="48463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928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BCrypt Password Hashing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258568"/>
            <a:ext cx="257860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Industry-standard Blowfish algorithm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Cost factor 12 → 4096 iterations per check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Unique salt auto-generated per password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Constant-time comparison prevents timing attacks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Passwords never stored in plain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783080"/>
            <a:ext cx="2834640" cy="48463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783080"/>
            <a:ext cx="54864" cy="48463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18928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SQL Injection 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258568"/>
            <a:ext cx="257860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Every query uses PreparedStatement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User input always as ? parameters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Never string-concatenated into SQL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MySQL Connector/J parameterisation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Tested with typical injection payloads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783080"/>
            <a:ext cx="2834640" cy="48463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783080"/>
            <a:ext cx="54864" cy="48463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8928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SwingWorker Threading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258568"/>
            <a:ext cx="257860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DB queries run on background thread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UI stays responsive during data load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done() safely updates widgets on EDT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30-second auto-refresh via javax.swing.Timer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Live clock timer (1-second interval)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1783080"/>
            <a:ext cx="2834640" cy="48463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60" y="1783080"/>
            <a:ext cx="54864" cy="48463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45752" y="18928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Role-Based Access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2258568"/>
            <a:ext cx="257860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Login returns User object with role field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Admin: full CRUD access to all modules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User role: view-only restricted menus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Role stored in DB, verified at runtime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2E8F0"/>
                </a:solidFill>
                <a:latin typeface="Calibri"/>
              </a:rPr>
              <a:t>  •  No hard-coded credential checks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GUI Design &amp; User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Modern dark-indigo theme matching real application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1325880" cy="118872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184F4"/>
                </a:solidFill>
                <a:latin typeface="Courier New"/>
              </a:rPr>
              <a:t>#121424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64992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BG Primary
Main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10512" y="1783080"/>
            <a:ext cx="1325880" cy="11887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10512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184F4"/>
                </a:solidFill>
                <a:latin typeface="Courier New"/>
              </a:rPr>
              <a:t>#1E1B4B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3364992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BG Secondary
Cards &amp; Panels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55264" y="1783080"/>
            <a:ext cx="1325880" cy="1188720"/>
          </a:xfrm>
          <a:prstGeom prst="rect">
            <a:avLst/>
          </a:prstGeom>
          <a:solidFill>
            <a:srgbClr val="2D2B55"/>
          </a:solidFill>
          <a:ln>
            <a:solidFill>
              <a:srgbClr val="2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55264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184F4"/>
                </a:solidFill>
                <a:latin typeface="Courier New"/>
              </a:rPr>
              <a:t>#2D2B55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5264" y="3364992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BG Tertiary
Inputs &amp; Tables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0016" y="1783080"/>
            <a:ext cx="1325880" cy="1188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184F4"/>
                </a:solidFill>
                <a:latin typeface="Courier New"/>
              </a:rPr>
              <a:t>#6366F1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3364992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Accent
Buttons &amp; Tags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783080"/>
            <a:ext cx="1325880" cy="1188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184F4"/>
                </a:solidFill>
                <a:latin typeface="Courier New"/>
              </a:rPr>
              <a:t>#10B981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3364992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Success
Positive KPIs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783080"/>
            <a:ext cx="1325880" cy="1188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184F4"/>
                </a:solidFill>
                <a:latin typeface="Courier New"/>
              </a:rPr>
              <a:t>#F59E0B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364992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Warning
Low Stock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34272" y="1783080"/>
            <a:ext cx="1325880" cy="1188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34272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184F4"/>
                </a:solidFill>
                <a:latin typeface="Courier New"/>
              </a:rPr>
              <a:t>#EF4444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272" y="3364992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Error / Delete
Actions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79024" y="1783080"/>
            <a:ext cx="1325880" cy="118872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79024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184F4"/>
                </a:solidFill>
                <a:latin typeface="Courier New"/>
              </a:rPr>
              <a:t>#E2E8F0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79024" y="3364992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Text Primary
Body Copy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069080"/>
            <a:ext cx="283464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069080"/>
            <a:ext cx="283464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41605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184F4"/>
                </a:solidFill>
                <a:latin typeface="Calibri"/>
              </a:rPr>
              <a:t>Live Clock in Status Bar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454456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javax.swing.Timer updates every 1 second — always shows current HH:mm:ss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4069080"/>
            <a:ext cx="283464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37560" y="4069080"/>
            <a:ext cx="283464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47288" y="41605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184F4"/>
                </a:solidFill>
                <a:latin typeface="Calibri"/>
              </a:rPr>
              <a:t>Searchable Tables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47288" y="454456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TableRowSorter + DocumentListener — filters rows in real time as you type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069080"/>
            <a:ext cx="283464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069080"/>
            <a:ext cx="283464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41605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184F4"/>
                </a:solidFill>
                <a:latin typeface="Calibri"/>
              </a:rPr>
              <a:t>Sortable Columns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454456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Click any column header to sort ascending/descending via TableRowSorter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60" y="4069080"/>
            <a:ext cx="283464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81160" y="4069080"/>
            <a:ext cx="283464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90888" y="41605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184F4"/>
                </a:solidFill>
                <a:latin typeface="Calibri"/>
              </a:rPr>
              <a:t>Dropdown Dialogs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90888" y="454456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Add-product dialog uses JComboBox for Category &amp; Supplier — no raw ID entry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303520"/>
            <a:ext cx="283464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5303520"/>
            <a:ext cx="283464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" y="53949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184F4"/>
                </a:solidFill>
                <a:latin typeface="Calibri"/>
              </a:rPr>
              <a:t>Metric KPI Cards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577900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Four dashboard cards with colour-coded values refresh every 30 seconds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37560" y="5303520"/>
            <a:ext cx="283464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37560" y="5303520"/>
            <a:ext cx="283464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47288" y="53949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184F4"/>
                </a:solidFill>
                <a:latin typeface="Calibri"/>
              </a:rPr>
              <a:t>Custom Bar Chart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47288" y="577900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SalesChartPanel extends JPanel — gradient bars drawn with Java2D Graphics2D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5303520"/>
            <a:ext cx="283464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09360" y="5303520"/>
            <a:ext cx="283464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19088" y="53949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184F4"/>
                </a:solidFill>
                <a:latin typeface="Calibri"/>
              </a:rPr>
              <a:t>CSV Export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19088" y="577900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JFileChooser save dialog → writes correctly quoted CSV for any table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81160" y="5303520"/>
            <a:ext cx="2834640" cy="111556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81160" y="5303520"/>
            <a:ext cx="283464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90888" y="53949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184F4"/>
                </a:solidFill>
                <a:latin typeface="Calibri"/>
              </a:rPr>
              <a:t>Print Support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90888" y="577900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PrinterJob with custom Printable — scales table to fit A4/Letter page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Code Quality &amp; Design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Industry standards applied throughout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5669280" cy="2286000"/>
          </a:xfrm>
          <a:prstGeom prst="rect">
            <a:avLst/>
          </a:prstGeom>
          <a:solidFill>
            <a:srgbClr val="2D2B55"/>
          </a:solidFill>
          <a:ln>
            <a:solidFill>
              <a:srgbClr val="2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54864" cy="2286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92808"/>
            <a:ext cx="5413248" cy="2084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// Try-with-resources — auto-closes Connection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// PreparedStatement — prevents SQL injection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public boolean addProduct(String name, ...) {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String sql = "INSERT INTO products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              VALUES (?,?,?,?,?,?)";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try (Connection c = DB.getConnection();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     PreparedStatement s = c.prepareStatement(sql)) {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    s.setString(1, name);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    s.setInt(2, quantity);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    return s.executeUpdate() &gt; 0;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} catch (SQLException e) {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    System.out.println(e.getMessage());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    return false;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}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5577840" cy="2286000"/>
          </a:xfrm>
          <a:prstGeom prst="rect">
            <a:avLst/>
          </a:prstGeom>
          <a:solidFill>
            <a:srgbClr val="2D2B55"/>
          </a:solidFill>
          <a:ln>
            <a:solidFill>
              <a:srgbClr val="2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54864" cy="2286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892808"/>
            <a:ext cx="5321808" cy="2084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// Audit logging — every action recorded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FileHandler.writeLog(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"PRODUCT_ADD: " + productName +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" qty=" + quantity +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    " by=" + currentUser.getUsername()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);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// ims_log.txt entry: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// [2025-05-14 14:32:07] PRODUCT_ADD: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A5B4FC"/>
                </a:solidFill>
                <a:latin typeface="Courier New"/>
              </a:rPr>
              <a:t>// Laptop qty=50 by=admin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3749039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206240"/>
            <a:ext cx="64008" cy="109728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793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Singleton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1830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DatabaseConnection — one connection factory for whole 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206240"/>
            <a:ext cx="3749039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4206240"/>
            <a:ext cx="64008" cy="10972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2793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DAO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1830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6 DAO classes isolate all SQL from the GUI layer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206240"/>
            <a:ext cx="3749039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206240"/>
            <a:ext cx="64008" cy="10972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2793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MVC Pattern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71830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Model/View/Controller cleanly separated in package structure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440679"/>
            <a:ext cx="3749039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440679"/>
            <a:ext cx="64008" cy="1097280"/>
          </a:xfrm>
          <a:prstGeom prst="rect">
            <a:avLst/>
          </a:prstGeom>
          <a:solidFill>
            <a:srgbClr val="8184F4"/>
          </a:solidFill>
          <a:ln>
            <a:solidFill>
              <a:srgbClr val="818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51383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4F4"/>
                </a:solidFill>
                <a:latin typeface="Calibri"/>
              </a:rPr>
              <a:t>Observer 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52743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ActionListener &amp; javax.swing.Timer — event-driven GUI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5440679"/>
            <a:ext cx="3749039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5440679"/>
            <a:ext cx="64008" cy="10972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551383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Try-with-Resources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952743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Auto-close JDBC resources — prevents connection leaks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5440679"/>
            <a:ext cx="3749039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5440679"/>
            <a:ext cx="64008" cy="109728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551383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Strategy Pattern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952743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TableRowSorter — swappable sort/filter strategy per 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Testing &amp; Quality Assurance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15 functional test cases — all passed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2788920" cy="13258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278892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92024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6366F1"/>
                </a:solidFill>
                <a:latin typeface="Calibri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3288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Total Tests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783080"/>
            <a:ext cx="2788920" cy="13258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783080"/>
            <a:ext cx="278892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92024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  <a:latin typeface="Calibri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53288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Passed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783080"/>
            <a:ext cx="2788920" cy="13258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783080"/>
            <a:ext cx="278892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92024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3288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Failed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1783080"/>
            <a:ext cx="2788920" cy="13258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60" y="1783080"/>
            <a:ext cx="2788920" cy="5486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92024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Calibri"/>
              </a:rPr>
              <a:t>All 7 Modules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53288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Coverage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246120"/>
            <a:ext cx="2240280" cy="15087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46120"/>
            <a:ext cx="224028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3375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TC-01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6118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Login valid credentials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6168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246120"/>
            <a:ext cx="2240280" cy="15087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0" y="3246120"/>
            <a:ext cx="224028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33375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TC-02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6118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Login wrong password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36168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3246120"/>
            <a:ext cx="2240280" cy="15087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20640" y="3246120"/>
            <a:ext cx="224028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33375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TC-03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36118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Add Product valid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436168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0" y="3246120"/>
            <a:ext cx="2240280" cy="15087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80" y="3246120"/>
            <a:ext cx="224028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0" y="33375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TC-04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36118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Add Product empty name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36168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75520" y="3246120"/>
            <a:ext cx="2240280" cy="15087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20" y="3246120"/>
            <a:ext cx="224028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6960" y="33375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TC-05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36118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Delete Category — in use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436168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892040"/>
            <a:ext cx="2240280" cy="15087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5760" y="4892040"/>
            <a:ext cx="224028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9834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TC-06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257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Add Sale — stock sufficient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00760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4892040"/>
            <a:ext cx="2240280" cy="15087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0" y="4892040"/>
            <a:ext cx="224028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4640" y="49834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TC-07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34640" y="5257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Add Sale — stock insufficient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4640" y="600760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4892040"/>
            <a:ext cx="2240280" cy="15087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20640" y="4892040"/>
            <a:ext cx="224028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12080" y="49834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TC-08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12080" y="5257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CSV Export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12080" y="600760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98080" y="4892040"/>
            <a:ext cx="2240280" cy="15087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498080" y="4892040"/>
            <a:ext cx="224028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89520" y="49834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TC-09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89520" y="5257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Low-stock alert on dashboard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89520" y="600760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75520" y="4892040"/>
            <a:ext cx="2240280" cy="150876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875520" y="4892040"/>
            <a:ext cx="2240280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966960" y="49834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TC-10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66960" y="5257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Role restriction — user role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66960" y="600760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Work &amp;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Planned improvements for v2.0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3749039" cy="21031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3749039" cy="6400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856232"/>
            <a:ext cx="594360" cy="34747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85623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8745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366F1"/>
                </a:solidFill>
                <a:latin typeface="Calibri"/>
              </a:rPr>
              <a:t>Network / Multi-User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35000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REST API backend so multiple employees
can connect simultaneously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783080"/>
            <a:ext cx="3749039" cy="21031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783080"/>
            <a:ext cx="3749039" cy="64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1856232"/>
            <a:ext cx="594360" cy="3474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185623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18745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Barcode Scanner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35000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USB/Bluetooth scanner integration for
fast stock-take &amp; POS checkout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783080"/>
            <a:ext cx="3749039" cy="21031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783080"/>
            <a:ext cx="3749039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92840" y="1856232"/>
            <a:ext cx="594360" cy="3474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92840" y="185623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v2.1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18745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PDF Invoice Generator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35000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Apache PDFBox to generate branded
PDF invoices and monthly reports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60520"/>
            <a:ext cx="3749039" cy="21031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160520"/>
            <a:ext cx="3749039" cy="64008"/>
          </a:xfrm>
          <a:prstGeom prst="rect">
            <a:avLst/>
          </a:prstGeom>
          <a:solidFill>
            <a:srgbClr val="8184F4"/>
          </a:solidFill>
          <a:ln>
            <a:solidFill>
              <a:srgbClr val="818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4233672"/>
            <a:ext cx="594360" cy="347472"/>
          </a:xfrm>
          <a:prstGeom prst="rect">
            <a:avLst/>
          </a:prstGeom>
          <a:solidFill>
            <a:srgbClr val="8184F4"/>
          </a:solidFill>
          <a:ln>
            <a:solidFill>
              <a:srgbClr val="818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42336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v2.1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2519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184F4"/>
                </a:solidFill>
                <a:latin typeface="Calibri"/>
              </a:rPr>
              <a:t>Email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72744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JavaMail API sends automatic low-stock
reorder alerts to manager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4160520"/>
            <a:ext cx="3749039" cy="21031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4160520"/>
            <a:ext cx="3749039" cy="64008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60920" y="4233672"/>
            <a:ext cx="594360" cy="347472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20" y="42336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v2.2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2272" y="42519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Calibri"/>
              </a:rPr>
              <a:t>JUnit 5 Test Suite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472744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Full unit + integration tests with
Mockito — target 80%+ coverage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160520"/>
            <a:ext cx="3749039" cy="21031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4160520"/>
            <a:ext cx="3749039" cy="6400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92840" y="4233672"/>
            <a:ext cx="594360" cy="34747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92840" y="42336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v3.0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42519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  <a:latin typeface="Calibri"/>
              </a:rPr>
              <a:t>Docker / Cloud Deploy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2" y="472744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Containerise MySQL, one-click deploy
to any cloud or office server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384048"/>
            <a:ext cx="822960" cy="82296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657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60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What we built and what we proved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Inventory Management System  |  OOP Final Project  | 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The Inventory Management System is a complete, production-quality Java application that goes far beyond a typical academic project. It is a real tool that a small business could deploy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5760720" cy="9144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06040"/>
            <a:ext cx="64008" cy="9144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2606040"/>
            <a:ext cx="365760" cy="9144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8072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791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0B981"/>
                </a:solidFill>
                <a:latin typeface="Calibri"/>
              </a:rPr>
              <a:t>All 4 OOP Pillars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81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Demonstrated with real code — not just theory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30168"/>
            <a:ext cx="5760720" cy="9144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630168"/>
            <a:ext cx="64008" cy="9144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3630168"/>
            <a:ext cx="365760" cy="9144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383133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03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6366F1"/>
                </a:solidFill>
                <a:latin typeface="Calibri"/>
              </a:rPr>
              <a:t>MVC + DAO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056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Clean 3-layer separation, zero cross-contamination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54296"/>
            <a:ext cx="5760720" cy="9144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654296"/>
            <a:ext cx="64008" cy="9144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60720" y="4654296"/>
            <a:ext cx="365760" cy="9144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485546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27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F4444"/>
                </a:solidFill>
                <a:latin typeface="Calibri"/>
              </a:rPr>
              <a:t>Production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297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BCrypt + PreparedStatements + RBAC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78424"/>
            <a:ext cx="5760720" cy="9144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678424"/>
            <a:ext cx="64008" cy="914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720" y="5678424"/>
            <a:ext cx="365760" cy="914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58795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7515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59E0B"/>
                </a:solidFill>
                <a:latin typeface="Calibri"/>
              </a:rPr>
              <a:t>Live Dashboard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153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Custom Java2D chart + auto-refresh KPIs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606040"/>
            <a:ext cx="5760720" cy="9144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606040"/>
            <a:ext cx="64008" cy="914400"/>
          </a:xfrm>
          <a:prstGeom prst="rect">
            <a:avLst/>
          </a:prstGeom>
          <a:solidFill>
            <a:srgbClr val="8184F4"/>
          </a:solidFill>
          <a:ln>
            <a:solidFill>
              <a:srgbClr val="818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795760" y="2606040"/>
            <a:ext cx="365760" cy="914400"/>
          </a:xfrm>
          <a:prstGeom prst="rect">
            <a:avLst/>
          </a:prstGeom>
          <a:solidFill>
            <a:srgbClr val="8184F4"/>
          </a:solidFill>
          <a:ln>
            <a:solidFill>
              <a:srgbClr val="818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95760" y="28072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6791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8184F4"/>
                </a:solidFill>
                <a:latin typeface="Calibri"/>
              </a:rPr>
              <a:t>Full CRUD — 6 Modules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081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Products, Sales, Purchases, Suppliers, Categories, Customers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630168"/>
            <a:ext cx="5760720" cy="9144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3630168"/>
            <a:ext cx="64008" cy="91440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795760" y="3630168"/>
            <a:ext cx="365760" cy="91440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95760" y="383133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703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BBF24"/>
                </a:solidFill>
                <a:latin typeface="Calibri"/>
              </a:rPr>
              <a:t>Data Export &amp; Print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1056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CSV + OS print dialog on every module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654296"/>
            <a:ext cx="5760720" cy="9144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4654296"/>
            <a:ext cx="64008" cy="9144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795760" y="4654296"/>
            <a:ext cx="365760" cy="9144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795760" y="485546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727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0B981"/>
                </a:solidFill>
                <a:latin typeface="Calibri"/>
              </a:rPr>
              <a:t>Audit Trail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1297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Every action timestamped in ims_log.txt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5678424"/>
            <a:ext cx="5760720" cy="9144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0" y="5678424"/>
            <a:ext cx="64008" cy="9144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795760" y="5678424"/>
            <a:ext cx="365760" cy="9144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795760" y="58795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57515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6366F1"/>
                </a:solidFill>
                <a:latin typeface="Calibri"/>
              </a:rPr>
              <a:t>SwingWorker Threading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6153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Responsive UI — no EDT blocking on DB calls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4"/>
          </a:solidFill>
          <a:ln>
            <a:solidFill>
              <a:srgbClr val="12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8184F4"/>
          </a:solidFill>
          <a:ln>
            <a:solidFill>
              <a:srgbClr val="818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103120"/>
            <a:ext cx="9144000" cy="7315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703320"/>
            <a:ext cx="9144000" cy="7315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886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Calibri"/>
              </a:rPr>
              <a:t>Inventory Management System  —  OOP Final Project  —  Spring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184F4"/>
                </a:solidFill>
                <a:latin typeface="Calibri"/>
              </a:rPr>
              <a:t>Q&amp;A — Open for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49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Java SE 17  •  Java Swing  •  MySQL 8.0  •  JDBC  •  BCrypt  •  Java2D  •  MVC  •  DAO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